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c7fe9882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c7fe988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c7fe9882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c7fe9882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c7fe9882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c7fe9882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7fe98823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7fe98823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c7fe98823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c7fe98823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c7fe98823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c7fe98823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c7fe9882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c7fe9882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c7fe98823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c7fe98823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c7fe98823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0c7fe98823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c7fe98823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c7fe98823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c7fe98823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c7fe98823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c7fe98823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c7fe98823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c7fe98823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0c7fe98823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c7fe98823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c7fe98823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7fe98823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7fe98823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7fe98823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7fe98823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7fe98823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7fe98823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c7fe98823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0c7fe98823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0c7fe98823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0c7fe98823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c7fe98823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c7fe98823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700"/>
              <a:t>AWS EC2</a:t>
            </a:r>
            <a:endParaRPr sz="87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4001642" y="3057975"/>
            <a:ext cx="6331500" cy="12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aleway"/>
                <a:ea typeface="Raleway"/>
                <a:cs typeface="Raleway"/>
                <a:sym typeface="Raleway"/>
              </a:rPr>
              <a:t>Purusothaman S</a:t>
            </a:r>
            <a:endParaRPr b="1" sz="24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4294967295" type="title"/>
          </p:nvPr>
        </p:nvSpPr>
        <p:spPr>
          <a:xfrm>
            <a:off x="355300" y="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Amazon EC2</a:t>
            </a:r>
            <a:endParaRPr sz="2400"/>
          </a:p>
        </p:txBody>
      </p:sp>
      <p:sp>
        <p:nvSpPr>
          <p:cNvPr id="93" name="Google Shape;93;p14"/>
          <p:cNvSpPr txBox="1"/>
          <p:nvPr>
            <p:ph idx="4294967295" type="title"/>
          </p:nvPr>
        </p:nvSpPr>
        <p:spPr>
          <a:xfrm>
            <a:off x="355300" y="768000"/>
            <a:ext cx="8268900" cy="43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EC2 is one of the most popular of AWS’ offering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• EC2 = Elastic Compute Cloud = Infrastructure as a Service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It mainly consists in the capability of : 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                   • Renting virtual machines (EC2)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                   • Storing data on virtual drives (EBS)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                   • Distributing load across machines (ELB)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                  • Scaling the services using an auto-scaling group (ASG)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• Knowing EC2 is fundamental to understand how the Cloud works 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sizing &amp; configuration options</a:t>
            </a:r>
            <a:endParaRPr sz="2400"/>
          </a:p>
        </p:txBody>
      </p:sp>
      <p:sp>
        <p:nvSpPr>
          <p:cNvPr id="99" name="Google Shape;99;p15"/>
          <p:cNvSpPr txBox="1"/>
          <p:nvPr>
            <p:ph idx="4294967295" type="title"/>
          </p:nvPr>
        </p:nvSpPr>
        <p:spPr>
          <a:xfrm>
            <a:off x="290850" y="639000"/>
            <a:ext cx="8268900" cy="4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Operating System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(OS):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Linux, Windows or Mac OS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How much compute power &amp; cores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(CPU)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How much random-access memory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(RAM)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How much storage space: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• Network-attached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(EBS &amp; EFS)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• hardware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(EC2 Instance Store)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Network card: speed of the card, Public IP address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Firewall rules: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security group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Bootstrap script (configure at first launch): EC2 User Data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User Data</a:t>
            </a:r>
            <a:endParaRPr sz="2400"/>
          </a:p>
        </p:txBody>
      </p:sp>
      <p:sp>
        <p:nvSpPr>
          <p:cNvPr id="105" name="Google Shape;105;p16"/>
          <p:cNvSpPr txBox="1"/>
          <p:nvPr>
            <p:ph idx="4294967295" type="title"/>
          </p:nvPr>
        </p:nvSpPr>
        <p:spPr>
          <a:xfrm>
            <a:off x="290850" y="639000"/>
            <a:ext cx="8268900" cy="4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It is possible to bootstrap our instances using an EC2 User data script.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bootstrapping means launching commands when a machine starts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That script is only run once at the instance first start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EC2 user data is used to automate boot tasks such as: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• Installing updates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• Installing software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• Downloading common files from the internet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• Anything you can think of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• The EC2 User Data Script runs with the root user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 - Overview</a:t>
            </a:r>
            <a:endParaRPr sz="2400"/>
          </a:p>
        </p:txBody>
      </p:sp>
      <p:sp>
        <p:nvSpPr>
          <p:cNvPr id="111" name="Google Shape;111;p17"/>
          <p:cNvSpPr txBox="1"/>
          <p:nvPr>
            <p:ph idx="4294967295" type="title"/>
          </p:nvPr>
        </p:nvSpPr>
        <p:spPr>
          <a:xfrm>
            <a:off x="355300" y="832375"/>
            <a:ext cx="8268900" cy="37569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You can use different types of EC2 instances that are optimised for different use cases (https://aws.amazon.com/ec2/instance-types/)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AWS has the following naming convention:       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                </a:t>
            </a:r>
            <a:r>
              <a:rPr b="0" lang="en" sz="1900">
                <a:latin typeface="Lato"/>
                <a:ea typeface="Lato"/>
                <a:cs typeface="Lato"/>
                <a:sym typeface="Lato"/>
              </a:rPr>
              <a:t> m5.2xlarge </a:t>
            </a:r>
            <a:endParaRPr b="0"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m: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instance class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 5: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generation (AWS improves them over time)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   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2x: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size within the instance class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025" y="1327400"/>
            <a:ext cx="19050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 – General Purpose</a:t>
            </a:r>
            <a:endParaRPr sz="2400"/>
          </a:p>
        </p:txBody>
      </p:sp>
      <p:sp>
        <p:nvSpPr>
          <p:cNvPr id="118" name="Google Shape;118;p18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Great for a diversity of workloads such as web servers or code repositories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• Balance between: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• Compute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• Memory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• Networking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In the course, we will be using the t2.micro which is a General Purpose EC2 instance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5" y="3635250"/>
            <a:ext cx="6505575" cy="10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 – Compute Optimized</a:t>
            </a:r>
            <a:endParaRPr sz="2400"/>
          </a:p>
        </p:txBody>
      </p:sp>
      <p:sp>
        <p:nvSpPr>
          <p:cNvPr id="125" name="Google Shape;125;p19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Great for compute-intensive tasks that require high performance processors: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• Batch processing workloads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• Media transcoding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• High performance web servers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• High performance computing (HPC)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• Scientific modeling &amp; machine learning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• Dedicated gaming servers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200" y="3999275"/>
            <a:ext cx="6631001" cy="8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 – Memory Optimized</a:t>
            </a:r>
            <a:endParaRPr sz="2400"/>
          </a:p>
        </p:txBody>
      </p:sp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Fast performance for workloads that process large data sets in memory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Use cases: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• High performance, relational/non-relational databases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• Distributed web scale cache stores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• In-memory databases optimized for BI (business intelligence)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Applications performing real-time processing of big unstructured data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00" y="3673922"/>
            <a:ext cx="6867525" cy="13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 – Storage Optimized</a:t>
            </a:r>
            <a:endParaRPr sz="2400"/>
          </a:p>
        </p:txBody>
      </p:sp>
      <p:sp>
        <p:nvSpPr>
          <p:cNvPr id="139" name="Google Shape;139;p21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Great for storage-intensive tasks that require high, sequential read and write access to large data sets on local storage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• Use cases: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High frequency online transaction processing (OLTP) systems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Relational &amp; NoSQL databases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Cache for in-memory databases (for example, Redis)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Data warehousing applications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Distributed file systems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650" y="4125125"/>
            <a:ext cx="6686550" cy="8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Instance Types: example</a:t>
            </a:r>
            <a:endParaRPr sz="2400"/>
          </a:p>
        </p:txBody>
      </p:sp>
      <p:sp>
        <p:nvSpPr>
          <p:cNvPr id="146" name="Google Shape;146;p22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Great website: https://instances.vantage.s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775" y="1455750"/>
            <a:ext cx="778192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Introduction to Security Groups</a:t>
            </a:r>
            <a:endParaRPr sz="2400"/>
          </a:p>
        </p:txBody>
      </p:sp>
      <p:sp>
        <p:nvSpPr>
          <p:cNvPr id="153" name="Google Shape;153;p23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Security Groups are the fundamental of network security in AWS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• They control how traffic is allowed into or out of our EC2 Instances.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Security groups only contain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allow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rules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Security groups rules can reference by IP or by security group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900" y="2024950"/>
            <a:ext cx="61531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Security Groups Deeper Dive</a:t>
            </a:r>
            <a:endParaRPr sz="2400"/>
          </a:p>
        </p:txBody>
      </p:sp>
      <p:sp>
        <p:nvSpPr>
          <p:cNvPr id="160" name="Google Shape;160;p24"/>
          <p:cNvSpPr txBox="1"/>
          <p:nvPr>
            <p:ph idx="4294967295" type="title"/>
          </p:nvPr>
        </p:nvSpPr>
        <p:spPr>
          <a:xfrm>
            <a:off x="355300" y="832375"/>
            <a:ext cx="8268900" cy="42468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Security groups are acting as a “firewall” on EC2 instances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• They regulate: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Access to Ports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Authorised IP ranges – IPv4 and IPv6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Control of inbound network (from other to the instance)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Control of outbound network (from the instance to other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800" y="3564175"/>
            <a:ext cx="8069899" cy="12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Security Groups Diagram</a:t>
            </a:r>
            <a:endParaRPr sz="2400"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761" y="860950"/>
            <a:ext cx="7740476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Referencing other security groups Diagram</a:t>
            </a:r>
            <a:endParaRPr sz="2400"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225"/>
            <a:ext cx="8839201" cy="355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idx="4294967295" type="title"/>
          </p:nvPr>
        </p:nvSpPr>
        <p:spPr>
          <a:xfrm>
            <a:off x="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Groups Good to know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8000"/>
            <a:ext cx="8791575" cy="38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4294967295" type="title"/>
          </p:nvPr>
        </p:nvSpPr>
        <p:spPr>
          <a:xfrm>
            <a:off x="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 Ports to know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0400"/>
            <a:ext cx="871537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75725" y="0"/>
            <a:ext cx="8631600" cy="50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 Instances Purchasing Options</a:t>
            </a:r>
            <a:endParaRPr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• On-Demand Instances:</a:t>
            </a:r>
            <a:r>
              <a:rPr b="0" lang="en" sz="1900"/>
              <a:t> short workload, predictable pricing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Reserved:</a:t>
            </a:r>
            <a:r>
              <a:rPr b="0" lang="en" sz="1900"/>
              <a:t> (MINIMUM 1 year)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Reserved Instances: </a:t>
            </a:r>
            <a:r>
              <a:rPr b="0" lang="en" sz="1900"/>
              <a:t>long workloads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Convertible Reserved Instances:</a:t>
            </a:r>
            <a:r>
              <a:rPr b="0" lang="en" sz="1900"/>
              <a:t> long workloads with flexible instances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Scheduled Reserved Instances: </a:t>
            </a:r>
            <a:r>
              <a:rPr b="0" lang="en" sz="1900"/>
              <a:t>example – every Thursday between 3 and 6 pm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Spot Instances:</a:t>
            </a:r>
            <a:r>
              <a:rPr b="0" lang="en" sz="1900"/>
              <a:t> short workloads, cheap, can lose instances (less reliable) </a:t>
            </a:r>
            <a:endParaRPr b="0"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" sz="1900"/>
              <a:t>• </a:t>
            </a:r>
            <a:r>
              <a:rPr lang="en" sz="1900"/>
              <a:t>Dedicated Hosts: </a:t>
            </a:r>
            <a:r>
              <a:rPr b="0" lang="en" sz="1900"/>
              <a:t>book an entire physical server, control instance placement</a:t>
            </a:r>
            <a:endParaRPr b="0" sz="19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b="0" lang="en" sz="1900"/>
              <a:t> • </a:t>
            </a:r>
            <a:r>
              <a:rPr lang="en" sz="1900"/>
              <a:t>Dedicated Instances:</a:t>
            </a:r>
            <a:r>
              <a:rPr b="0" lang="en" sz="1900"/>
              <a:t> no other customers will share your hardware</a:t>
            </a:r>
            <a:r>
              <a:rPr b="0" lang="en" sz="1600"/>
              <a:t> </a:t>
            </a:r>
            <a:endParaRPr b="0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On Demand</a:t>
            </a:r>
            <a:endParaRPr sz="2400"/>
          </a:p>
        </p:txBody>
      </p:sp>
      <p:sp>
        <p:nvSpPr>
          <p:cNvPr id="196" name="Google Shape;196;p30"/>
          <p:cNvSpPr txBox="1"/>
          <p:nvPr>
            <p:ph idx="4294967295" type="title"/>
          </p:nvPr>
        </p:nvSpPr>
        <p:spPr>
          <a:xfrm>
            <a:off x="355300" y="832375"/>
            <a:ext cx="8268900" cy="35634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Pay for what you use: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•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Linux or Windows 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- billing per second, after the first minute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• All other operating systems - billing per hour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• Has the highest cost but no upfront payment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• No long-term commitment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Recommended for short-term and un-interrupted workloads, where you can't predict how the application will behave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Reserved Instances</a:t>
            </a:r>
            <a:endParaRPr sz="2400"/>
          </a:p>
        </p:txBody>
      </p:sp>
      <p:sp>
        <p:nvSpPr>
          <p:cNvPr id="202" name="Google Shape;202;p31"/>
          <p:cNvSpPr txBox="1"/>
          <p:nvPr>
            <p:ph idx="4294967295" type="title"/>
          </p:nvPr>
        </p:nvSpPr>
        <p:spPr>
          <a:xfrm>
            <a:off x="226400" y="600350"/>
            <a:ext cx="8268900" cy="45432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Up to 72% discount compared to On-demand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Reservation period: 1 year = + discount | 3 years = +++ discount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Purchasing options: no upfront | partial upfront = + | All upfront = ++ discount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Reserve a specific instance type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Recommended for steady-state usage applications (think database)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Convertible Reserved Instance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• can change the EC2 instance type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• Up to 66% discount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 Scheduled Reserved Instances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     • launch within time window you reserve                                                                                                                                                                                                   .                             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•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When you require a fraction of day / week / month</a:t>
            </a:r>
            <a:endParaRPr b="0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idx="4294967295" type="title"/>
          </p:nvPr>
        </p:nvSpPr>
        <p:spPr>
          <a:xfrm>
            <a:off x="35530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Spot Instances</a:t>
            </a:r>
            <a:endParaRPr sz="2400"/>
          </a:p>
        </p:txBody>
      </p:sp>
      <p:sp>
        <p:nvSpPr>
          <p:cNvPr id="208" name="Google Shape;208;p32"/>
          <p:cNvSpPr txBox="1"/>
          <p:nvPr>
            <p:ph idx="4294967295" type="title"/>
          </p:nvPr>
        </p:nvSpPr>
        <p:spPr>
          <a:xfrm>
            <a:off x="226400" y="600350"/>
            <a:ext cx="8268900" cy="45432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Can get a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discount of up to 90% 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compared to On-demand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Instances that you can “lose” at any point of time if your max price is less than the current spot price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The MOST cost-efficient instances in AWS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• Useful for workloads that are resilient to failure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• Batch jobs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• Data analysis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 • Image processing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• Any distributed workloads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       • Workloads with a flexible start and end time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• Not suitable for critical jobs or databases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idx="4294967295" type="title"/>
          </p:nvPr>
        </p:nvSpPr>
        <p:spPr>
          <a:xfrm>
            <a:off x="11045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Dedicated Hosts</a:t>
            </a:r>
            <a:endParaRPr sz="2400"/>
          </a:p>
        </p:txBody>
      </p:sp>
      <p:sp>
        <p:nvSpPr>
          <p:cNvPr id="214" name="Google Shape;214;p33"/>
          <p:cNvSpPr txBox="1"/>
          <p:nvPr>
            <p:ph idx="4294967295" type="title"/>
          </p:nvPr>
        </p:nvSpPr>
        <p:spPr>
          <a:xfrm>
            <a:off x="226400" y="966825"/>
            <a:ext cx="8268900" cy="33774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An Amazon EC2 Dedicated Host is a physical server with EC2 instance capacity fully dedicated to your use. Dedicated Hosts can help you address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compliance requirements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and reduce costs by allowing you to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use your existing server-bound software licenses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.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• Allocated for your account for a 3-year period reservation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More expensive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Useful for software that have complicated licensing model (BYOL – Bring Your Own License)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Or for companies that have strong regulatory or compliance needs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idx="4294967295" type="title"/>
          </p:nvPr>
        </p:nvSpPr>
        <p:spPr>
          <a:xfrm>
            <a:off x="11045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Dedicated Instances</a:t>
            </a:r>
            <a:endParaRPr sz="2400"/>
          </a:p>
        </p:txBody>
      </p:sp>
      <p:sp>
        <p:nvSpPr>
          <p:cNvPr id="220" name="Google Shape;220;p34"/>
          <p:cNvSpPr txBox="1"/>
          <p:nvPr>
            <p:ph idx="4294967295" type="title"/>
          </p:nvPr>
        </p:nvSpPr>
        <p:spPr>
          <a:xfrm>
            <a:off x="277975" y="1075250"/>
            <a:ext cx="3821400" cy="29931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Instances running on hardware that’s dedicated to you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May share hardware with other instances in same account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No control over instance placement (can move hardware after Stop / Start)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175" y="1023675"/>
            <a:ext cx="3186350" cy="29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idx="4294967295" type="title"/>
          </p:nvPr>
        </p:nvSpPr>
        <p:spPr>
          <a:xfrm>
            <a:off x="110450" y="0"/>
            <a:ext cx="8500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EC2 Spot Instance Requests</a:t>
            </a:r>
            <a:endParaRPr sz="2400"/>
          </a:p>
        </p:txBody>
      </p:sp>
      <p:sp>
        <p:nvSpPr>
          <p:cNvPr id="227" name="Google Shape;227;p35"/>
          <p:cNvSpPr txBox="1"/>
          <p:nvPr>
            <p:ph idx="4294967295" type="title"/>
          </p:nvPr>
        </p:nvSpPr>
        <p:spPr>
          <a:xfrm>
            <a:off x="226425" y="830325"/>
            <a:ext cx="8500800" cy="4223100"/>
          </a:xfrm>
          <a:prstGeom prst="rect">
            <a:avLst/>
          </a:prstGeom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Can get a discount of up to 90% compared to On-demand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Define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max spot price</a:t>
            </a:r>
            <a:r>
              <a:rPr b="0" lang="en" sz="1600">
                <a:latin typeface="Lato"/>
                <a:ea typeface="Lato"/>
                <a:cs typeface="Lato"/>
                <a:sym typeface="Lato"/>
              </a:rPr>
              <a:t> and get the instance while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current spot price &lt; max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 • The hourly spot price varies based on offer and capacity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  • If the current spot price &gt; your max price you can choose to stop or terminate your instance with a 2 minutes grace period.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• Other strategy: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Spot Block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• “block” spot instance during a specified time frame (1 to 6 hours) without interruptions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600">
                <a:latin typeface="Lato"/>
                <a:ea typeface="Lato"/>
                <a:cs typeface="Lato"/>
                <a:sym typeface="Lato"/>
              </a:rPr>
              <a:t>              • In rare situations, the instance may be reclaimed </a:t>
            </a:r>
            <a:endParaRPr b="0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• Used for batch jobs, data analysis, or workloads that are resilient to failures.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• Not great for critical jobs or databases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25"/>
            <a:ext cx="4555101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2610625" y="322275"/>
            <a:ext cx="4311900" cy="1127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Which purchasing option is right for me?</a:t>
            </a:r>
            <a:endParaRPr b="1" sz="25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4" name="Google Shape;234;p36"/>
          <p:cNvSpPr txBox="1"/>
          <p:nvPr>
            <p:ph idx="4294967295" type="body"/>
          </p:nvPr>
        </p:nvSpPr>
        <p:spPr>
          <a:xfrm>
            <a:off x="2855550" y="15321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On demand: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coming and staying in resort whenever we like, we pay the full price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•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Reserved: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like planning ahead and if we plan to stay for a long time, we may get a good discount.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Spot instances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: the hotel allows people to bid for the empty rooms and the highest bidder keeps the rooms. You can get kicked out at any time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Dedicated Hosts: 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We book an entire building of the resort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