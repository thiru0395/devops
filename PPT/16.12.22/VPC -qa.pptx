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Average"/>
      <p:regular r:id="rId19"/>
    </p:embeddedFont>
    <p:embeddedFont>
      <p:font typeface="Oswald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Oswa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verage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80f9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80f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80f91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80f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0f02f0b162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0f02f0b16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0f02f0b162_0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0f02f0b16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0f02f0b162_0_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0f02f0b16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980f91_0_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980f9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c6f980f91_0_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c6f980f9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0f02f0b162_0_3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0f02f0b162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0f02f0b162_0_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0f02f0b162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f02f0b162_0_6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0f02f0b162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0f02f0b162_0_5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0f02f0b16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0f02f0b162_0_7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0f02f0b162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0f02f0b162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0f02f0b162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ipaddressguide.com/cidr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 Private Cloud (VPC)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Purusothaman 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VPC Components Diagram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Lorem ipsum dolor sit amet, consectetur adipiscing elit, sed do eiusmod tempor incididunt ut labore et dolore magna aliqua.</a:t>
            </a:r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825" y="1152475"/>
            <a:ext cx="8293199" cy="370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CIDR – IPv4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Classless Inter-Domain Routing – a method for allocating IP addresses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• Used in Security Groups rules and AWS networking in general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• They help to define an IP address range: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• We’ve seen WW.XX.YY.ZZ/32 =&gt; one IP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• We’ve seen 0.0.0.0/0 =&gt; all IPs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• But we can define:192.168.0.0/26 =&gt;192.168.0.0 – 192.168.0.63 (64 IP addresses)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CIDR – IPv4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07512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A CIDR consists of two components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• Base IP</a:t>
            </a:r>
            <a:r>
              <a:rPr lang="en"/>
              <a:t> • Represents an IP contained in the range (XX.XX.XX.XX)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                 • Example: 10.0.0.0, 192.168.0.0, …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 •</a:t>
            </a:r>
            <a:r>
              <a:rPr b="1" lang="en"/>
              <a:t> Subnet Mask 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      • Defines how many bits can change in the IP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                 • Example: /0, /24, /32 • Can take two forms: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                 • /8  255.0.0.0        • /16  255.255.0.0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               • /24  255.255.255.0     • /32  255.255.255.25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CIDR – Subnet Mask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07512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Subnet Mask basically allows part of the underlying IP to get additional next values from the base IP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825" y="1926000"/>
            <a:ext cx="7412325" cy="283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477375" y="307225"/>
            <a:ext cx="84174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/>
              <a:t>Understanding CIDR – Little Exercise</a:t>
            </a:r>
            <a:endParaRPr sz="4200"/>
          </a:p>
        </p:txBody>
      </p:sp>
      <p:sp>
        <p:nvSpPr>
          <p:cNvPr id="92" name="Google Shape;92;p18"/>
          <p:cNvSpPr txBox="1"/>
          <p:nvPr/>
        </p:nvSpPr>
        <p:spPr>
          <a:xfrm>
            <a:off x="646725" y="1388650"/>
            <a:ext cx="8572500" cy="3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Average"/>
                <a:ea typeface="Average"/>
                <a:cs typeface="Average"/>
                <a:sym typeface="Average"/>
              </a:rPr>
              <a:t>• 192.168.0.0/24 = … ? </a:t>
            </a:r>
            <a:endParaRPr sz="19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Average"/>
                <a:ea typeface="Average"/>
                <a:cs typeface="Average"/>
                <a:sym typeface="Average"/>
              </a:rPr>
              <a:t> </a:t>
            </a:r>
            <a:endParaRPr sz="19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Average"/>
                <a:ea typeface="Average"/>
                <a:cs typeface="Average"/>
                <a:sym typeface="Average"/>
              </a:rPr>
              <a:t>• 192.168.0.0/16 = … ? </a:t>
            </a:r>
            <a:endParaRPr sz="19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Average"/>
                <a:ea typeface="Average"/>
                <a:cs typeface="Average"/>
                <a:sym typeface="Average"/>
              </a:rPr>
              <a:t>• 134.56.78.123/32 = … ? </a:t>
            </a:r>
            <a:endParaRPr sz="19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Average"/>
                <a:ea typeface="Average"/>
                <a:cs typeface="Average"/>
                <a:sym typeface="Average"/>
              </a:rPr>
              <a:t>• 0.0.0.0/0 </a:t>
            </a:r>
            <a:endParaRPr sz="19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Average"/>
                <a:ea typeface="Average"/>
                <a:cs typeface="Average"/>
                <a:sym typeface="Average"/>
              </a:rPr>
              <a:t>• All IPs! • When in doubt, use this website </a:t>
            </a:r>
            <a:r>
              <a:rPr lang="en" sz="1900" u="sng">
                <a:solidFill>
                  <a:srgbClr val="0000FF"/>
                </a:solidFill>
                <a:latin typeface="Average"/>
                <a:ea typeface="Average"/>
                <a:cs typeface="Average"/>
                <a:sym typeface="Averag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https://www.ipaddressguide.com/cidr</a:t>
            </a:r>
            <a:endParaRPr sz="1900">
              <a:solidFill>
                <a:srgbClr val="0000FF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11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Public vs. Private IP (IPv4)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The Internet Assigned Numbers Authority (IANA) established certain blocks of IPv4 addresses for the use of private (LAN) and public (Internet) addresses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616550"/>
            <a:ext cx="7912800" cy="23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Private IP 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• </a:t>
            </a:r>
            <a:r>
              <a:rPr lang="en" sz="1600"/>
              <a:t>10.0.0.0 – 10.255.255.255 (10.0.0.0/8) ç in big networks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• 172.16.0.0 – 172.31.255.255 (172.16.0.0/12) ç AWS default VPC in that range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• 192.168.0.0 – 192.168.255.255 (192.168.0.0/16) ç e.g., home networks</a:t>
            </a:r>
            <a:r>
              <a:rPr b="1" lang="en" sz="2100">
                <a:solidFill>
                  <a:schemeClr val="dk1"/>
                </a:solidFill>
              </a:rPr>
              <a:t> </a:t>
            </a:r>
            <a:r>
              <a:rPr lang="en" sz="1600"/>
              <a:t>Consectetur ad</a:t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99" name="Google Shape;99;p19"/>
          <p:cNvSpPr txBox="1"/>
          <p:nvPr>
            <p:ph idx="2" type="body"/>
          </p:nvPr>
        </p:nvSpPr>
        <p:spPr>
          <a:xfrm>
            <a:off x="425400" y="4408725"/>
            <a:ext cx="8406900" cy="5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All the rest of the IP addresses on the Internet are Public </a:t>
            </a:r>
            <a:endParaRPr b="1"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221475" y="187225"/>
            <a:ext cx="85206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Default VPC Walkthrough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221475" y="997775"/>
            <a:ext cx="7912800" cy="29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• All new AWS accounts have a default VPC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• New EC2 instances are launched into the default VPC if no subnet is specified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• Default VPC has Internet connectivity and all EC2 instances inside it have public IPv4 addresses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• We also get a public and a private IPv4 DNS name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221475" y="187225"/>
            <a:ext cx="85206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VPC in AWS – IPv4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221475" y="997775"/>
            <a:ext cx="7912800" cy="39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• </a:t>
            </a:r>
            <a:r>
              <a:rPr b="1" lang="en" sz="1700">
                <a:solidFill>
                  <a:schemeClr val="dk1"/>
                </a:solidFill>
              </a:rPr>
              <a:t>VPC = Virtual Private Cloud 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• You can have multiple VPCs in an AWS region (max. 5 per region – soft limit)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 • Max. CIDR per VPC is 5, for each CIDR: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•</a:t>
            </a:r>
            <a:r>
              <a:rPr b="1" lang="en" sz="1700">
                <a:solidFill>
                  <a:schemeClr val="dk1"/>
                </a:solidFill>
              </a:rPr>
              <a:t> Min. size is /28 (16 IP addresses) 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• Max. size is /16 (65536 IP addresses) 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• Because VPC is private, only the Private IPv4 ranges are allowed: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• 10.0.0.0 – 10.255.255.255 (10.0.0.0/8)          • 172.16.0.0 – 172.31.255.255 (172.16.0.0/12) • 192.168.0.0 – 192.168.255.255 (192.168.0.0/16)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221475" y="187225"/>
            <a:ext cx="85206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VPC – Subnet (IPv4)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79675" y="786325"/>
            <a:ext cx="7912800" cy="42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• AWS reserves 5 IP addresses (first 4 &amp; last 1) in each subnet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•</a:t>
            </a:r>
            <a:r>
              <a:rPr lang="en" sz="1700">
                <a:solidFill>
                  <a:schemeClr val="dk1"/>
                </a:solidFill>
              </a:rPr>
              <a:t>• These 5 IP addresses are not available for use and can’t be assigned to an EC2 instance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• Example: if CIDR block 10.0.0.0/24, then reserved IP addresses are: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     • 10.0.0.0 – Network Address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    • 10.0.0.1 – reserved by AWS for the VPC router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    • 10.0.0.2 – reserved by AWS for mapping to Amazon-provided DNS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    • 10.0.0.3 – reserved by AWS for future use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   • 10.0.0.255 – Network Broadcast Address. AWS does not support broadcast in a VPC, 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477375" y="307225"/>
            <a:ext cx="84174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/>
              <a:t>State of Hands -on</a:t>
            </a:r>
            <a:endParaRPr sz="4200"/>
          </a:p>
        </p:txBody>
      </p:sp>
      <p:sp>
        <p:nvSpPr>
          <p:cNvPr id="123" name="Google Shape;123;p23"/>
          <p:cNvSpPr txBox="1"/>
          <p:nvPr/>
        </p:nvSpPr>
        <p:spPr>
          <a:xfrm>
            <a:off x="386725" y="1185975"/>
            <a:ext cx="8572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24" name="Google Shape;12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875" y="1067700"/>
            <a:ext cx="7270501" cy="341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477375" y="307225"/>
            <a:ext cx="84174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/>
              <a:t>State of Hands -on</a:t>
            </a:r>
            <a:endParaRPr sz="4200"/>
          </a:p>
        </p:txBody>
      </p:sp>
      <p:sp>
        <p:nvSpPr>
          <p:cNvPr id="130" name="Google Shape;130;p24"/>
          <p:cNvSpPr txBox="1"/>
          <p:nvPr/>
        </p:nvSpPr>
        <p:spPr>
          <a:xfrm>
            <a:off x="386725" y="1185975"/>
            <a:ext cx="8572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8125" y="1248175"/>
            <a:ext cx="5844216" cy="317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